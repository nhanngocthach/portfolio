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5"/>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Gatwick Ultra-Bold" charset="1" panose="00000900000000000000"/>
      <p:regular r:id="rId18"/>
    </p:embeddedFont>
    <p:embeddedFont>
      <p:font typeface="Codec Pro Ultra-Bold" charset="1" panose="00000700000000000000"/>
      <p:regular r:id="rId19"/>
    </p:embeddedFont>
    <p:embeddedFont>
      <p:font typeface="Codec Pro" charset="1" panose="000005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notesMasters/notesMaster1.xml" Type="http://schemas.openxmlformats.org/officeDocument/2006/relationships/notesMaster"/><Relationship Id="rId16" Target="theme/theme2.xml" Type="http://schemas.openxmlformats.org/officeDocument/2006/relationships/theme"/><Relationship Id="rId17" Target="notesSlides/notesSlide1.xml" Type="http://schemas.openxmlformats.org/officeDocument/2006/relationships/note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notesSlides/notesSlide2.xml" Type="http://schemas.openxmlformats.org/officeDocument/2006/relationships/notesSlide"/><Relationship Id="rId21" Target="fonts/font21.fntdata" Type="http://schemas.openxmlformats.org/officeDocument/2006/relationships/font"/><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notesSlides/notesSlide7.xml" Type="http://schemas.openxmlformats.org/officeDocument/2006/relationships/notesSlide"/><Relationship Id="rId27" Target="notesSlides/notesSlide8.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Today, I will present my informational interview project.</a:t>
            </a:r>
          </a:p>
          <a:p>
            <a:r>
              <a:rPr lang="en-US"/>
              <a:t/>
            </a:r>
          </a:p>
          <a:p>
            <a:r>
              <a:rPr lang="en-US"/>
              <a:t>My topic is about data science and data analysis careers, especially in healthcare.”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am interested in working with data in the future.</a:t>
            </a:r>
          </a:p>
          <a:p>
            <a:r>
              <a:rPr lang="en-US"/>
              <a:t>In this project, I focused on healthcare because it is an important field.</a:t>
            </a:r>
          </a:p>
          <a:p>
            <a:r>
              <a:rPr lang="en-US"/>
              <a:t/>
            </a:r>
          </a:p>
          <a:p>
            <a:r>
              <a:rPr lang="en-US"/>
              <a:t>The purpose of this project is to understand job requirements, employers, and skills needed for a data career.”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dive into the exciting world of healthcare data roles. </a:t>
            </a:r>
          </a:p>
          <a:p>
            <a:r>
              <a:rPr lang="en-US"/>
              <a:t/>
            </a:r>
          </a:p>
          <a:p>
            <a:r>
              <a:rPr lang="en-US"/>
              <a:t>First, let's talk about the salary expectations. On average, professionals in this field earn around $112,000 per year, which breaks down to roughly $54 per hour. </a:t>
            </a:r>
          </a:p>
          <a:p>
            <a:r>
              <a:rPr lang="en-US"/>
              <a:t/>
            </a:r>
          </a:p>
          <a:p>
            <a:r>
              <a:rPr lang="en-US"/>
              <a:t/>
            </a:r>
          </a:p>
          <a:p>
            <a:r>
              <a:rPr lang="en-US"/>
              <a:t>For those just starting out, entry-level positions range between $60,000 and $75,000 annually, equating to about $29 to $36 per hour. </a:t>
            </a:r>
          </a:p>
          <a:p>
            <a:r>
              <a:rPr lang="en-US"/>
              <a:t/>
            </a:r>
          </a:p>
          <a:p>
            <a:r>
              <a:rPr lang="en-US"/>
              <a:t>[Use a slightly upbeat tone to emphasize opportunity.]</a:t>
            </a:r>
          </a:p>
          <a:p>
            <a:r>
              <a:rPr lang="en-US"/>
              <a:t/>
            </a:r>
          </a:p>
          <a:p>
            <a:r>
              <a:rPr lang="en-US"/>
              <a:t>Now, here's the best part: the demand for healthcare data professionals is expected to grow by an impressive 34%! This surge highlights the immense opportunities available for those entering the field.</a:t>
            </a:r>
          </a:p>
          <a:p>
            <a:r>
              <a:rPr lang="en-US"/>
              <a:t/>
            </a:r>
          </a:p>
          <a:p>
            <a:r>
              <a:rPr lang="en-US"/>
              <a:t>[Conclude with a confident tone to inspire interest and enthusiasm.]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excellent in healthcare data roles, there are several essential skills you should focus on. Let's dive into these key areas.</a:t>
            </a:r>
          </a:p>
          <a:p>
            <a:r>
              <a:rPr lang="en-US"/>
              <a:t/>
            </a:r>
          </a:p>
          <a:p>
            <a:r>
              <a:rPr lang="en-US"/>
              <a:t>First, data analysis is crucial. You need to be able to identify trends and interpret data effectively. This involves using various data techniques, such as Python and SQL, which are foundational tools in the industry. These tools help you to manage and manipulate data, providing clear insights that guide decision-making.</a:t>
            </a:r>
          </a:p>
          <a:p>
            <a:r>
              <a:rPr lang="en-US"/>
              <a:t/>
            </a:r>
          </a:p>
          <a:p>
            <a:r>
              <a:rPr lang="en-US"/>
              <a:t>[Pause for a moment]</a:t>
            </a:r>
          </a:p>
          <a:p>
            <a:r>
              <a:rPr lang="en-US"/>
              <a:t/>
            </a:r>
          </a:p>
          <a:p>
            <a:r>
              <a:rPr lang="en-US"/>
              <a:t>Programming, particularly in Python, is a skill that complements your data analysis abilities. It allows for more efficient data processing and modeling, enabling you to create decision support systems. Understanding the basics of statistics is also vital. Statistical knowledge provides the framework for data modeling and helps you make informed predictions based on your analyses.</a:t>
            </a:r>
          </a:p>
          <a:p>
            <a:r>
              <a:rPr lang="en-US"/>
              <a:t/>
            </a:r>
          </a:p>
          <a:p>
            <a:r>
              <a:rPr lang="en-US"/>
              <a:t/>
            </a:r>
          </a:p>
          <a:p>
            <a:r>
              <a:rPr lang="en-US"/>
              <a:t>In summary, mastering these essential skills—data analysis, programming, and statistical knowledge—will set you on a strong path in data roles. They are the building blocks that will enhance your ability to contribute effectively in this rapidly growing field.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conducted a comparative analysis of Mass General Brigham and Boston Children’s Hospital. </a:t>
            </a:r>
          </a:p>
          <a:p>
            <a:r>
              <a:rPr lang="en-US"/>
              <a:t/>
            </a:r>
          </a:p>
          <a:p>
            <a:r>
              <a:rPr lang="en-US"/>
              <a:t>Both require candidates to have a bachelor's degree and technical skills like SQL or Python, along with strong analytical and communication abilities. </a:t>
            </a:r>
          </a:p>
          <a:p>
            <a:r>
              <a:rPr lang="en-US"/>
              <a:t/>
            </a:r>
          </a:p>
          <a:p>
            <a:r>
              <a:rPr lang="en-US"/>
              <a:t>- Mass General Brigham offers a vast network and advanced research facilities, emphasizing collaboration and professional development.</a:t>
            </a:r>
          </a:p>
          <a:p>
            <a:r>
              <a:rPr lang="en-US"/>
              <a:t>- Boston Children’s Hospital focuses on specialized pediatric care and research, encouraging interdisciplinary collaboration to improve healthcare outcomes.</a:t>
            </a:r>
          </a:p>
          <a:p>
            <a:r>
              <a:rPr lang="en-US"/>
              <a:t/>
            </a:r>
          </a:p>
          <a:p>
            <a:r>
              <a:rPr lang="en-US"/>
              <a:t>In both organizations, the ability to translate data insights into actionable strategies is essential, as the demand for skilled data professionals rises due to healthcare's digital transformation.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Healthcare employers play a crucial role in the industry by serving millions of patients, which necessitates robust data systems for efficient management of patient information. They also contribute to research and education, ensuring advancements in medicine. Central to their mission is the emphasis on enhancing patient care and outcomes through their operations and innovations.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LinkedIn has over 10,000 employees and 166,000 followers, highlighting its extensive network for professionals. With 146 alumni, it fosters community engagement and supports professional development through access to industry insights. The discussion will focus on how real data generates diverse insights and the significance of problem-solving in business.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also conducted an informational interview with Professor Ghosh.</a:t>
            </a:r>
          </a:p>
          <a:p>
            <a:r>
              <a:rPr lang="en-US"/>
              <a:t/>
            </a:r>
          </a:p>
          <a:p>
            <a:r>
              <a:rPr lang="en-US"/>
              <a:t>From this interview, I learned several important lessons.</a:t>
            </a:r>
          </a:p>
          <a:p>
            <a:r>
              <a:rPr lang="en-US"/>
              <a:t/>
            </a:r>
          </a:p>
          <a:p>
            <a:r>
              <a:rPr lang="en-US"/>
              <a:t>First, he started working with data during his research using statistical tools.</a:t>
            </a:r>
          </a:p>
          <a:p>
            <a:r>
              <a:rPr lang="en-US"/>
              <a:t>Second, the same data can give different insights depending on how we analyze it.</a:t>
            </a:r>
          </a:p>
          <a:p>
            <a:r>
              <a:rPr lang="en-US"/>
              <a:t/>
            </a:r>
          </a:p>
          <a:p>
            <a:r>
              <a:rPr lang="en-US"/>
              <a:t>He also emphasized the importance of problem-solving and business understanding.</a:t>
            </a:r>
          </a:p>
          <a:p>
            <a:r>
              <a:rPr lang="en-US"/>
              <a:t>Finally, he highlighted that continuous learning is important for success in data-related careers.”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0B3D91"/>
            </a:solidFill>
          </p:spPr>
        </p:sp>
      </p:grpSp>
      <p:grpSp>
        <p:nvGrpSpPr>
          <p:cNvPr name="Group 5" id="5"/>
          <p:cNvGrpSpPr/>
          <p:nvPr/>
        </p:nvGrpSpPr>
        <p:grpSpPr>
          <a:xfrm rot="0">
            <a:off x="10095507" y="1171470"/>
            <a:ext cx="6898579" cy="7848810"/>
            <a:chOff x="0" y="0"/>
            <a:chExt cx="1078972" cy="1227593"/>
          </a:xfrm>
        </p:grpSpPr>
        <p:sp>
          <p:nvSpPr>
            <p:cNvPr name="Freeform 6" id="6"/>
            <p:cNvSpPr/>
            <p:nvPr/>
          </p:nvSpPr>
          <p:spPr>
            <a:xfrm flipH="false" flipV="false" rot="0">
              <a:off x="0" y="0"/>
              <a:ext cx="1078972" cy="1227593"/>
            </a:xfrm>
            <a:custGeom>
              <a:avLst/>
              <a:gdLst/>
              <a:ahLst/>
              <a:cxnLst/>
              <a:rect r="r" b="b" t="t" l="l"/>
              <a:pathLst>
                <a:path h="1227593" w="1078972">
                  <a:moveTo>
                    <a:pt x="56112" y="0"/>
                  </a:moveTo>
                  <a:lnTo>
                    <a:pt x="1022860" y="0"/>
                  </a:lnTo>
                  <a:cubicBezTo>
                    <a:pt x="1053850" y="0"/>
                    <a:pt x="1078972" y="25122"/>
                    <a:pt x="1078972" y="56112"/>
                  </a:cubicBezTo>
                  <a:lnTo>
                    <a:pt x="1078972" y="1171481"/>
                  </a:lnTo>
                  <a:cubicBezTo>
                    <a:pt x="1078972" y="1202471"/>
                    <a:pt x="1053850" y="1227593"/>
                    <a:pt x="1022860" y="1227593"/>
                  </a:cubicBezTo>
                  <a:lnTo>
                    <a:pt x="56112" y="1227593"/>
                  </a:lnTo>
                  <a:cubicBezTo>
                    <a:pt x="25122" y="1227593"/>
                    <a:pt x="0" y="1202471"/>
                    <a:pt x="0" y="1171481"/>
                  </a:cubicBezTo>
                  <a:lnTo>
                    <a:pt x="0" y="56112"/>
                  </a:lnTo>
                  <a:cubicBezTo>
                    <a:pt x="0" y="25122"/>
                    <a:pt x="25122" y="0"/>
                    <a:pt x="56112" y="0"/>
                  </a:cubicBezTo>
                  <a:close/>
                </a:path>
              </a:pathLst>
            </a:custGeom>
            <a:blipFill>
              <a:blip r:embed="rId3"/>
              <a:stretch>
                <a:fillRect l="0" t="-153" r="0" b="-153"/>
              </a:stretch>
            </a:blipFill>
            <a:ln w="38100" cap="rnd">
              <a:solidFill>
                <a:srgbClr val="000000"/>
              </a:solidFill>
              <a:prstDash val="solid"/>
              <a:round/>
            </a:ln>
          </p:spPr>
        </p:sp>
      </p:grpSp>
      <p:sp>
        <p:nvSpPr>
          <p:cNvPr name="TextBox 7" id="7"/>
          <p:cNvSpPr txBox="true"/>
          <p:nvPr/>
        </p:nvSpPr>
        <p:spPr>
          <a:xfrm rot="0">
            <a:off x="1800225" y="3267095"/>
            <a:ext cx="7496175" cy="3400425"/>
          </a:xfrm>
          <a:prstGeom prst="rect">
            <a:avLst/>
          </a:prstGeom>
        </p:spPr>
        <p:txBody>
          <a:bodyPr anchor="t" rtlCol="false" tIns="0" lIns="0" bIns="0" rIns="0">
            <a:spAutoFit/>
          </a:bodyPr>
          <a:lstStyle/>
          <a:p>
            <a:pPr algn="ctr" marL="0" indent="0" lvl="0">
              <a:lnSpc>
                <a:spcPts val="8730"/>
              </a:lnSpc>
            </a:pPr>
            <a:r>
              <a:rPr lang="en-US" b="true" sz="7275" spc="-181">
                <a:solidFill>
                  <a:srgbClr val="0B3D91"/>
                </a:solidFill>
                <a:latin typeface="Gatwick Ultra-Bold"/>
                <a:ea typeface="Gatwick Ultra-Bold"/>
                <a:cs typeface="Gatwick Ultra-Bold"/>
                <a:sym typeface="Gatwick Ultra-Bold"/>
              </a:rPr>
              <a:t>Informational Interview Project</a:t>
            </a:r>
          </a:p>
        </p:txBody>
      </p:sp>
      <p:sp>
        <p:nvSpPr>
          <p:cNvPr name="TextBox 8" id="8"/>
          <p:cNvSpPr txBox="true"/>
          <p:nvPr/>
        </p:nvSpPr>
        <p:spPr>
          <a:xfrm rot="0">
            <a:off x="1800225" y="1504950"/>
            <a:ext cx="7496175" cy="477520"/>
          </a:xfrm>
          <a:prstGeom prst="rect">
            <a:avLst/>
          </a:prstGeom>
        </p:spPr>
        <p:txBody>
          <a:bodyPr anchor="t" rtlCol="false" tIns="0" lIns="0" bIns="0" rIns="0">
            <a:spAutoFit/>
          </a:bodyPr>
          <a:lstStyle/>
          <a:p>
            <a:pPr algn="ctr" marL="0" indent="0" lvl="0">
              <a:lnSpc>
                <a:spcPts val="3499"/>
              </a:lnSpc>
              <a:spcBef>
                <a:spcPct val="0"/>
              </a:spcBef>
            </a:pPr>
            <a:r>
              <a:rPr lang="en-US" b="true" sz="2799">
                <a:solidFill>
                  <a:srgbClr val="2C5282"/>
                </a:solidFill>
                <a:latin typeface="Codec Pro Ultra-Bold"/>
                <a:ea typeface="Codec Pro Ultra-Bold"/>
                <a:cs typeface="Codec Pro Ultra-Bold"/>
                <a:sym typeface="Codec Pro Ultra-Bold"/>
              </a:rPr>
              <a:t>INTRODUCTION TO DATA CAREERS</a:t>
            </a:r>
          </a:p>
        </p:txBody>
      </p:sp>
      <p:sp>
        <p:nvSpPr>
          <p:cNvPr name="TextBox 9" id="9"/>
          <p:cNvSpPr txBox="true"/>
          <p:nvPr/>
        </p:nvSpPr>
        <p:spPr>
          <a:xfrm rot="0">
            <a:off x="1800225" y="8247380"/>
            <a:ext cx="7496175" cy="477520"/>
          </a:xfrm>
          <a:prstGeom prst="rect">
            <a:avLst/>
          </a:prstGeom>
        </p:spPr>
        <p:txBody>
          <a:bodyPr anchor="t" rtlCol="false" tIns="0" lIns="0" bIns="0" rIns="0">
            <a:spAutoFit/>
          </a:bodyPr>
          <a:lstStyle/>
          <a:p>
            <a:pPr algn="ctr" marL="0" indent="0" lvl="0">
              <a:lnSpc>
                <a:spcPts val="3499"/>
              </a:lnSpc>
              <a:spcBef>
                <a:spcPct val="0"/>
              </a:spcBef>
            </a:pPr>
            <a:r>
              <a:rPr lang="en-US" b="true" sz="2799">
                <a:solidFill>
                  <a:srgbClr val="4A5568"/>
                </a:solidFill>
                <a:latin typeface="Codec Pro Ultra-Bold"/>
                <a:ea typeface="Codec Pro Ultra-Bold"/>
                <a:cs typeface="Codec Pro Ultra-Bold"/>
                <a:sym typeface="Codec Pro Ultra-Bold"/>
              </a:rPr>
              <a:t>Nhan Ngoc Thach, Data Scientist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9E2EC"/>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0B3D91"/>
            </a:solidFill>
          </p:spPr>
        </p:sp>
      </p:grpSp>
      <p:sp>
        <p:nvSpPr>
          <p:cNvPr name="Freeform 5" id="5"/>
          <p:cNvSpPr/>
          <p:nvPr/>
        </p:nvSpPr>
        <p:spPr>
          <a:xfrm flipH="false" flipV="false" rot="0">
            <a:off x="2105025" y="2158401"/>
            <a:ext cx="5753100" cy="5970198"/>
          </a:xfrm>
          <a:custGeom>
            <a:avLst/>
            <a:gdLst/>
            <a:ahLst/>
            <a:cxnLst/>
            <a:rect r="r" b="b" t="t" l="l"/>
            <a:pathLst>
              <a:path h="5970198" w="5753100">
                <a:moveTo>
                  <a:pt x="0" y="0"/>
                </a:moveTo>
                <a:lnTo>
                  <a:pt x="5753100" y="0"/>
                </a:lnTo>
                <a:lnTo>
                  <a:pt x="5753100" y="5970198"/>
                </a:lnTo>
                <a:lnTo>
                  <a:pt x="0" y="59701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6" id="6"/>
          <p:cNvGrpSpPr/>
          <p:nvPr/>
        </p:nvGrpSpPr>
        <p:grpSpPr>
          <a:xfrm rot="0">
            <a:off x="9296400" y="2438400"/>
            <a:ext cx="6886575" cy="4760595"/>
            <a:chOff x="0" y="0"/>
            <a:chExt cx="9182100" cy="6347460"/>
          </a:xfrm>
        </p:grpSpPr>
        <p:sp>
          <p:nvSpPr>
            <p:cNvPr name="TextBox 7" id="7"/>
            <p:cNvSpPr txBox="true"/>
            <p:nvPr/>
          </p:nvSpPr>
          <p:spPr>
            <a:xfrm rot="0">
              <a:off x="0" y="-57150"/>
              <a:ext cx="9182100" cy="5518150"/>
            </a:xfrm>
            <a:prstGeom prst="rect">
              <a:avLst/>
            </a:prstGeom>
          </p:spPr>
          <p:txBody>
            <a:bodyPr anchor="t" rtlCol="false" tIns="0" lIns="0" bIns="0" rIns="0">
              <a:spAutoFit/>
            </a:bodyPr>
            <a:lstStyle/>
            <a:p>
              <a:pPr algn="ctr" marL="0" indent="0" lvl="0">
                <a:lnSpc>
                  <a:spcPts val="6480"/>
                </a:lnSpc>
              </a:pPr>
              <a:r>
                <a:rPr lang="en-US" b="true" sz="5400" spc="-135">
                  <a:solidFill>
                    <a:srgbClr val="2C5282"/>
                  </a:solidFill>
                  <a:latin typeface="Gatwick Ultra-Bold"/>
                  <a:ea typeface="Gatwick Ultra-Bold"/>
                  <a:cs typeface="Gatwick Ultra-Bold"/>
                  <a:sym typeface="Gatwick Ultra-Bold"/>
                </a:rPr>
                <a:t>Introduction to the Informational Interview Project</a:t>
              </a:r>
            </a:p>
          </p:txBody>
        </p:sp>
        <p:sp>
          <p:nvSpPr>
            <p:cNvPr name="TextBox 8" id="8"/>
            <p:cNvSpPr txBox="true"/>
            <p:nvPr/>
          </p:nvSpPr>
          <p:spPr>
            <a:xfrm rot="0">
              <a:off x="0" y="5800725"/>
              <a:ext cx="9182100" cy="546735"/>
            </a:xfrm>
            <a:prstGeom prst="rect">
              <a:avLst/>
            </a:prstGeom>
          </p:spPr>
          <p:txBody>
            <a:bodyPr anchor="t" rtlCol="false" tIns="0" lIns="0" bIns="0" rIns="0">
              <a:spAutoFit/>
            </a:bodyPr>
            <a:lstStyle/>
            <a:p>
              <a:pPr algn="ctr" marL="0" indent="0" lvl="0">
                <a:lnSpc>
                  <a:spcPts val="3120"/>
                </a:lnSpc>
              </a:pPr>
              <a:r>
                <a:rPr lang="en-US" sz="2400">
                  <a:solidFill>
                    <a:srgbClr val="4A5568"/>
                  </a:solidFill>
                  <a:latin typeface="Codec Pro"/>
                  <a:ea typeface="Codec Pro"/>
                  <a:cs typeface="Codec Pro"/>
                  <a:sym typeface="Codec Pro"/>
                </a:rPr>
                <a:t> </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718096"/>
            </a:solidFill>
          </p:spPr>
        </p:sp>
      </p:grpSp>
      <p:sp>
        <p:nvSpPr>
          <p:cNvPr name="Freeform 5" id="5"/>
          <p:cNvSpPr/>
          <p:nvPr/>
        </p:nvSpPr>
        <p:spPr>
          <a:xfrm flipH="false" flipV="false" rot="0">
            <a:off x="2105025" y="2158401"/>
            <a:ext cx="5753100" cy="5970198"/>
          </a:xfrm>
          <a:custGeom>
            <a:avLst/>
            <a:gdLst/>
            <a:ahLst/>
            <a:cxnLst/>
            <a:rect r="r" b="b" t="t" l="l"/>
            <a:pathLst>
              <a:path h="5970198" w="5753100">
                <a:moveTo>
                  <a:pt x="0" y="0"/>
                </a:moveTo>
                <a:lnTo>
                  <a:pt x="5753100" y="0"/>
                </a:lnTo>
                <a:lnTo>
                  <a:pt x="5753100" y="5970198"/>
                </a:lnTo>
                <a:lnTo>
                  <a:pt x="0" y="59701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6" id="6"/>
          <p:cNvGrpSpPr/>
          <p:nvPr/>
        </p:nvGrpSpPr>
        <p:grpSpPr>
          <a:xfrm rot="0">
            <a:off x="9296400" y="2867025"/>
            <a:ext cx="6886575" cy="3903345"/>
            <a:chOff x="0" y="0"/>
            <a:chExt cx="9182100" cy="5204460"/>
          </a:xfrm>
        </p:grpSpPr>
        <p:sp>
          <p:nvSpPr>
            <p:cNvPr name="TextBox 7" id="7"/>
            <p:cNvSpPr txBox="true"/>
            <p:nvPr/>
          </p:nvSpPr>
          <p:spPr>
            <a:xfrm rot="0">
              <a:off x="0" y="-57150"/>
              <a:ext cx="9182100" cy="3333750"/>
            </a:xfrm>
            <a:prstGeom prst="rect">
              <a:avLst/>
            </a:prstGeom>
          </p:spPr>
          <p:txBody>
            <a:bodyPr anchor="t" rtlCol="false" tIns="0" lIns="0" bIns="0" rIns="0">
              <a:spAutoFit/>
            </a:bodyPr>
            <a:lstStyle/>
            <a:p>
              <a:pPr algn="ctr" marL="0" indent="0" lvl="0">
                <a:lnSpc>
                  <a:spcPts val="6480"/>
                </a:lnSpc>
              </a:pPr>
              <a:r>
                <a:rPr lang="en-US" b="true" sz="5400" spc="-135">
                  <a:solidFill>
                    <a:srgbClr val="2C5282"/>
                  </a:solidFill>
                  <a:latin typeface="Gatwick Ultra-Bold"/>
                  <a:ea typeface="Gatwick Ultra-Bold"/>
                  <a:cs typeface="Gatwick Ultra-Bold"/>
                  <a:sym typeface="Gatwick Ultra-Bold"/>
                </a:rPr>
                <a:t>Job Overview of Healthcare Data Roles</a:t>
              </a:r>
            </a:p>
          </p:txBody>
        </p:sp>
        <p:sp>
          <p:nvSpPr>
            <p:cNvPr name="TextBox 8" id="8"/>
            <p:cNvSpPr txBox="true"/>
            <p:nvPr/>
          </p:nvSpPr>
          <p:spPr>
            <a:xfrm rot="0">
              <a:off x="0" y="3616325"/>
              <a:ext cx="9182100" cy="1588135"/>
            </a:xfrm>
            <a:prstGeom prst="rect">
              <a:avLst/>
            </a:prstGeom>
          </p:spPr>
          <p:txBody>
            <a:bodyPr anchor="t" rtlCol="false" tIns="0" lIns="0" bIns="0" rIns="0">
              <a:spAutoFit/>
            </a:bodyPr>
            <a:lstStyle/>
            <a:p>
              <a:pPr algn="l" marL="518162" indent="-259081" lvl="1">
                <a:lnSpc>
                  <a:spcPts val="3120"/>
                </a:lnSpc>
                <a:buFont typeface="Arial"/>
                <a:buChar char="•"/>
              </a:pPr>
              <a:r>
                <a:rPr lang="en-US" sz="2400">
                  <a:solidFill>
                    <a:srgbClr val="4A5568"/>
                  </a:solidFill>
                  <a:latin typeface="Codec Pro"/>
                  <a:ea typeface="Codec Pro"/>
                  <a:cs typeface="Codec Pro"/>
                  <a:sym typeface="Codec Pro"/>
                </a:rPr>
                <a:t>Salary: ~$112K/year (~$54/hour) (Median)</a:t>
              </a:r>
            </a:p>
            <a:p>
              <a:pPr algn="l" marL="518162" indent="-259081" lvl="1">
                <a:lnSpc>
                  <a:spcPts val="3120"/>
                </a:lnSpc>
                <a:buFont typeface="Arial"/>
                <a:buChar char="•"/>
              </a:pPr>
              <a:r>
                <a:rPr lang="en-US" sz="2400">
                  <a:solidFill>
                    <a:srgbClr val="4A5568"/>
                  </a:solidFill>
                  <a:latin typeface="Codec Pro"/>
                  <a:ea typeface="Codec Pro"/>
                  <a:cs typeface="Codec Pro"/>
                  <a:sym typeface="Codec Pro"/>
                </a:rPr>
                <a:t>Entry-level: ~$60K–$75K (~$29–$36/hour)</a:t>
              </a:r>
            </a:p>
            <a:p>
              <a:pPr algn="l" marL="518162" indent="-259081" lvl="1">
                <a:lnSpc>
                  <a:spcPts val="3120"/>
                </a:lnSpc>
                <a:buFont typeface="Arial"/>
                <a:buChar char="•"/>
              </a:pPr>
              <a:r>
                <a:rPr lang="en-US" sz="2400">
                  <a:solidFill>
                    <a:srgbClr val="4A5568"/>
                  </a:solidFill>
                  <a:latin typeface="Codec Pro"/>
                  <a:ea typeface="Codec Pro"/>
                  <a:cs typeface="Codec Pro"/>
                  <a:sym typeface="Codec Pro"/>
                </a:rPr>
                <a:t>High demand (+34%)</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0B3D91"/>
            </a:solidFill>
          </p:spPr>
        </p:sp>
      </p:grpSp>
      <p:grpSp>
        <p:nvGrpSpPr>
          <p:cNvPr name="Group 5" id="5"/>
          <p:cNvGrpSpPr/>
          <p:nvPr/>
        </p:nvGrpSpPr>
        <p:grpSpPr>
          <a:xfrm rot="0">
            <a:off x="1800225" y="3352800"/>
            <a:ext cx="4619625" cy="3231344"/>
            <a:chOff x="0" y="0"/>
            <a:chExt cx="650279" cy="454859"/>
          </a:xfrm>
        </p:grpSpPr>
        <p:sp>
          <p:nvSpPr>
            <p:cNvPr name="Freeform 6" id="6"/>
            <p:cNvSpPr/>
            <p:nvPr/>
          </p:nvSpPr>
          <p:spPr>
            <a:xfrm flipH="false" flipV="false" rot="0">
              <a:off x="0" y="0"/>
              <a:ext cx="650279" cy="454859"/>
            </a:xfrm>
            <a:custGeom>
              <a:avLst/>
              <a:gdLst/>
              <a:ahLst/>
              <a:cxnLst/>
              <a:rect r="r" b="b" t="t" l="l"/>
              <a:pathLst>
                <a:path h="454859" w="650279">
                  <a:moveTo>
                    <a:pt x="83794" y="0"/>
                  </a:moveTo>
                  <a:lnTo>
                    <a:pt x="566485" y="0"/>
                  </a:lnTo>
                  <a:cubicBezTo>
                    <a:pt x="588709" y="0"/>
                    <a:pt x="610022" y="8828"/>
                    <a:pt x="625737" y="24543"/>
                  </a:cubicBezTo>
                  <a:cubicBezTo>
                    <a:pt x="641451" y="40257"/>
                    <a:pt x="650279" y="61570"/>
                    <a:pt x="650279" y="83794"/>
                  </a:cubicBezTo>
                  <a:lnTo>
                    <a:pt x="650279" y="371065"/>
                  </a:lnTo>
                  <a:cubicBezTo>
                    <a:pt x="650279" y="393288"/>
                    <a:pt x="641451" y="414602"/>
                    <a:pt x="625737" y="430316"/>
                  </a:cubicBezTo>
                  <a:cubicBezTo>
                    <a:pt x="610022" y="446030"/>
                    <a:pt x="588709" y="454859"/>
                    <a:pt x="566485" y="454859"/>
                  </a:cubicBezTo>
                  <a:lnTo>
                    <a:pt x="83794" y="454859"/>
                  </a:lnTo>
                  <a:cubicBezTo>
                    <a:pt x="61570" y="454859"/>
                    <a:pt x="40257" y="446030"/>
                    <a:pt x="24543" y="430316"/>
                  </a:cubicBezTo>
                  <a:cubicBezTo>
                    <a:pt x="8828" y="414602"/>
                    <a:pt x="0" y="393288"/>
                    <a:pt x="0" y="371065"/>
                  </a:cubicBezTo>
                  <a:lnTo>
                    <a:pt x="0" y="83794"/>
                  </a:lnTo>
                  <a:cubicBezTo>
                    <a:pt x="0" y="61570"/>
                    <a:pt x="8828" y="40257"/>
                    <a:pt x="24543" y="24543"/>
                  </a:cubicBezTo>
                  <a:cubicBezTo>
                    <a:pt x="40257" y="8828"/>
                    <a:pt x="61570" y="0"/>
                    <a:pt x="83794" y="0"/>
                  </a:cubicBezTo>
                  <a:close/>
                </a:path>
              </a:pathLst>
            </a:custGeom>
            <a:blipFill>
              <a:blip r:embed="rId3"/>
              <a:stretch>
                <a:fillRect l="-232" t="0" r="-232" b="0"/>
              </a:stretch>
            </a:blipFill>
            <a:ln w="38100" cap="rnd">
              <a:solidFill>
                <a:srgbClr val="000000"/>
              </a:solidFill>
              <a:prstDash val="solid"/>
              <a:round/>
            </a:ln>
          </p:spPr>
        </p:sp>
      </p:grpSp>
      <p:grpSp>
        <p:nvGrpSpPr>
          <p:cNvPr name="Group 7" id="7"/>
          <p:cNvGrpSpPr/>
          <p:nvPr/>
        </p:nvGrpSpPr>
        <p:grpSpPr>
          <a:xfrm rot="0">
            <a:off x="6834188" y="3352800"/>
            <a:ext cx="4619625" cy="3231344"/>
            <a:chOff x="0" y="0"/>
            <a:chExt cx="650279" cy="454859"/>
          </a:xfrm>
        </p:grpSpPr>
        <p:sp>
          <p:nvSpPr>
            <p:cNvPr name="Freeform 8" id="8"/>
            <p:cNvSpPr/>
            <p:nvPr/>
          </p:nvSpPr>
          <p:spPr>
            <a:xfrm flipH="false" flipV="false" rot="0">
              <a:off x="0" y="0"/>
              <a:ext cx="650279" cy="454859"/>
            </a:xfrm>
            <a:custGeom>
              <a:avLst/>
              <a:gdLst/>
              <a:ahLst/>
              <a:cxnLst/>
              <a:rect r="r" b="b" t="t" l="l"/>
              <a:pathLst>
                <a:path h="454859" w="650279">
                  <a:moveTo>
                    <a:pt x="83794" y="0"/>
                  </a:moveTo>
                  <a:lnTo>
                    <a:pt x="566485" y="0"/>
                  </a:lnTo>
                  <a:cubicBezTo>
                    <a:pt x="588709" y="0"/>
                    <a:pt x="610022" y="8828"/>
                    <a:pt x="625737" y="24543"/>
                  </a:cubicBezTo>
                  <a:cubicBezTo>
                    <a:pt x="641451" y="40257"/>
                    <a:pt x="650279" y="61570"/>
                    <a:pt x="650279" y="83794"/>
                  </a:cubicBezTo>
                  <a:lnTo>
                    <a:pt x="650279" y="371065"/>
                  </a:lnTo>
                  <a:cubicBezTo>
                    <a:pt x="650279" y="393288"/>
                    <a:pt x="641451" y="414602"/>
                    <a:pt x="625737" y="430316"/>
                  </a:cubicBezTo>
                  <a:cubicBezTo>
                    <a:pt x="610022" y="446030"/>
                    <a:pt x="588709" y="454859"/>
                    <a:pt x="566485" y="454859"/>
                  </a:cubicBezTo>
                  <a:lnTo>
                    <a:pt x="83794" y="454859"/>
                  </a:lnTo>
                  <a:cubicBezTo>
                    <a:pt x="61570" y="454859"/>
                    <a:pt x="40257" y="446030"/>
                    <a:pt x="24543" y="430316"/>
                  </a:cubicBezTo>
                  <a:cubicBezTo>
                    <a:pt x="8828" y="414602"/>
                    <a:pt x="0" y="393288"/>
                    <a:pt x="0" y="371065"/>
                  </a:cubicBezTo>
                  <a:lnTo>
                    <a:pt x="0" y="83794"/>
                  </a:lnTo>
                  <a:cubicBezTo>
                    <a:pt x="0" y="61570"/>
                    <a:pt x="8828" y="40257"/>
                    <a:pt x="24543" y="24543"/>
                  </a:cubicBezTo>
                  <a:cubicBezTo>
                    <a:pt x="40257" y="8828"/>
                    <a:pt x="61570" y="0"/>
                    <a:pt x="83794" y="0"/>
                  </a:cubicBezTo>
                  <a:close/>
                </a:path>
              </a:pathLst>
            </a:custGeom>
            <a:blipFill>
              <a:blip r:embed="rId4"/>
              <a:stretch>
                <a:fillRect l="-232" t="0" r="-232" b="0"/>
              </a:stretch>
            </a:blipFill>
            <a:ln w="38100" cap="rnd">
              <a:solidFill>
                <a:srgbClr val="000000"/>
              </a:solidFill>
              <a:prstDash val="solid"/>
              <a:round/>
            </a:ln>
          </p:spPr>
        </p:sp>
      </p:grpSp>
      <p:grpSp>
        <p:nvGrpSpPr>
          <p:cNvPr name="Group 9" id="9"/>
          <p:cNvGrpSpPr/>
          <p:nvPr/>
        </p:nvGrpSpPr>
        <p:grpSpPr>
          <a:xfrm rot="0">
            <a:off x="11865501" y="3352800"/>
            <a:ext cx="4623063" cy="3231344"/>
            <a:chOff x="0" y="0"/>
            <a:chExt cx="650763" cy="454859"/>
          </a:xfrm>
        </p:grpSpPr>
        <p:sp>
          <p:nvSpPr>
            <p:cNvPr name="Freeform 10" id="10"/>
            <p:cNvSpPr/>
            <p:nvPr/>
          </p:nvSpPr>
          <p:spPr>
            <a:xfrm flipH="false" flipV="false" rot="0">
              <a:off x="0" y="0"/>
              <a:ext cx="650763" cy="454859"/>
            </a:xfrm>
            <a:custGeom>
              <a:avLst/>
              <a:gdLst/>
              <a:ahLst/>
              <a:cxnLst/>
              <a:rect r="r" b="b" t="t" l="l"/>
              <a:pathLst>
                <a:path h="454859" w="650763">
                  <a:moveTo>
                    <a:pt x="83732" y="0"/>
                  </a:moveTo>
                  <a:lnTo>
                    <a:pt x="567032" y="0"/>
                  </a:lnTo>
                  <a:cubicBezTo>
                    <a:pt x="589239" y="0"/>
                    <a:pt x="610536" y="8822"/>
                    <a:pt x="626239" y="24524"/>
                  </a:cubicBezTo>
                  <a:cubicBezTo>
                    <a:pt x="641941" y="40227"/>
                    <a:pt x="650763" y="61525"/>
                    <a:pt x="650763" y="83732"/>
                  </a:cubicBezTo>
                  <a:lnTo>
                    <a:pt x="650763" y="371127"/>
                  </a:lnTo>
                  <a:cubicBezTo>
                    <a:pt x="650763" y="393334"/>
                    <a:pt x="641941" y="414631"/>
                    <a:pt x="626239" y="430334"/>
                  </a:cubicBezTo>
                  <a:cubicBezTo>
                    <a:pt x="610536" y="446037"/>
                    <a:pt x="589239" y="454859"/>
                    <a:pt x="567032" y="454859"/>
                  </a:cubicBezTo>
                  <a:lnTo>
                    <a:pt x="83732" y="454859"/>
                  </a:lnTo>
                  <a:cubicBezTo>
                    <a:pt x="61525" y="454859"/>
                    <a:pt x="40227" y="446037"/>
                    <a:pt x="24524" y="430334"/>
                  </a:cubicBezTo>
                  <a:cubicBezTo>
                    <a:pt x="8822" y="414631"/>
                    <a:pt x="0" y="393334"/>
                    <a:pt x="0" y="371127"/>
                  </a:cubicBezTo>
                  <a:lnTo>
                    <a:pt x="0" y="83732"/>
                  </a:lnTo>
                  <a:cubicBezTo>
                    <a:pt x="0" y="61525"/>
                    <a:pt x="8822" y="40227"/>
                    <a:pt x="24524" y="24524"/>
                  </a:cubicBezTo>
                  <a:cubicBezTo>
                    <a:pt x="40227" y="8822"/>
                    <a:pt x="61525" y="0"/>
                    <a:pt x="83732" y="0"/>
                  </a:cubicBezTo>
                  <a:close/>
                </a:path>
              </a:pathLst>
            </a:custGeom>
            <a:blipFill>
              <a:blip r:embed="rId5"/>
              <a:stretch>
                <a:fillRect l="-194" t="0" r="-194" b="0"/>
              </a:stretch>
            </a:blipFill>
            <a:ln w="38100" cap="rnd">
              <a:solidFill>
                <a:srgbClr val="000000"/>
              </a:solidFill>
              <a:prstDash val="solid"/>
              <a:round/>
            </a:ln>
          </p:spPr>
        </p:sp>
      </p:grpSp>
      <p:grpSp>
        <p:nvGrpSpPr>
          <p:cNvPr name="Group 11" id="11"/>
          <p:cNvGrpSpPr/>
          <p:nvPr/>
        </p:nvGrpSpPr>
        <p:grpSpPr>
          <a:xfrm rot="0">
            <a:off x="1800225" y="6934200"/>
            <a:ext cx="4619625" cy="1586865"/>
            <a:chOff x="0" y="0"/>
            <a:chExt cx="6159500" cy="2115820"/>
          </a:xfrm>
        </p:grpSpPr>
        <p:sp>
          <p:nvSpPr>
            <p:cNvPr name="TextBox 12" id="12"/>
            <p:cNvSpPr txBox="true"/>
            <p:nvPr/>
          </p:nvSpPr>
          <p:spPr>
            <a:xfrm rot="0">
              <a:off x="0" y="527685"/>
              <a:ext cx="6159500" cy="1588135"/>
            </a:xfrm>
            <a:prstGeom prst="rect">
              <a:avLst/>
            </a:prstGeom>
          </p:spPr>
          <p:txBody>
            <a:bodyPr anchor="t" rtlCol="false" tIns="0" lIns="0" bIns="0" rIns="0">
              <a:spAutoFit/>
            </a:bodyPr>
            <a:lstStyle/>
            <a:p>
              <a:pPr algn="ctr" marL="0" indent="0" lvl="0">
                <a:lnSpc>
                  <a:spcPts val="3120"/>
                </a:lnSpc>
              </a:pPr>
              <a:r>
                <a:rPr lang="en-US" sz="2400">
                  <a:solidFill>
                    <a:srgbClr val="4A5568"/>
                  </a:solidFill>
                  <a:latin typeface="Codec Pro"/>
                  <a:ea typeface="Codec Pro"/>
                  <a:cs typeface="Codec Pro"/>
                  <a:sym typeface="Codec Pro"/>
                </a:rPr>
                <a:t>Data analysis</a:t>
              </a:r>
            </a:p>
            <a:p>
              <a:pPr algn="ctr" marL="0" indent="0" lvl="0">
                <a:lnSpc>
                  <a:spcPts val="3120"/>
                </a:lnSpc>
              </a:pPr>
              <a:r>
                <a:rPr lang="en-US" sz="2400">
                  <a:solidFill>
                    <a:srgbClr val="4A5568"/>
                  </a:solidFill>
                  <a:latin typeface="Codec Pro"/>
                  <a:ea typeface="Codec Pro"/>
                  <a:cs typeface="Codec Pro"/>
                  <a:sym typeface="Codec Pro"/>
                </a:rPr>
                <a:t>Identify trends</a:t>
              </a:r>
            </a:p>
            <a:p>
              <a:pPr algn="ctr" marL="0" indent="0" lvl="0">
                <a:lnSpc>
                  <a:spcPts val="3120"/>
                </a:lnSpc>
              </a:pPr>
              <a:r>
                <a:rPr lang="en-US" sz="2400">
                  <a:solidFill>
                    <a:srgbClr val="4A5568"/>
                  </a:solidFill>
                  <a:latin typeface="Codec Pro"/>
                  <a:ea typeface="Codec Pro"/>
                  <a:cs typeface="Codec Pro"/>
                  <a:sym typeface="Codec Pro"/>
                </a:rPr>
                <a:t>Interpret data</a:t>
              </a:r>
            </a:p>
          </p:txBody>
        </p:sp>
        <p:sp>
          <p:nvSpPr>
            <p:cNvPr name="TextBox 13" id="13"/>
            <p:cNvSpPr txBox="true"/>
            <p:nvPr/>
          </p:nvSpPr>
          <p:spPr>
            <a:xfrm rot="0">
              <a:off x="0" y="-66675"/>
              <a:ext cx="6159500" cy="559435"/>
            </a:xfrm>
            <a:prstGeom prst="rect">
              <a:avLst/>
            </a:prstGeom>
          </p:spPr>
          <p:txBody>
            <a:bodyPr anchor="t" rtlCol="false" tIns="0" lIns="0" bIns="0" rIns="0">
              <a:spAutoFit/>
            </a:bodyPr>
            <a:lstStyle/>
            <a:p>
              <a:pPr algn="ctr" marL="0" indent="0" lvl="0">
                <a:lnSpc>
                  <a:spcPts val="3120"/>
                </a:lnSpc>
              </a:pPr>
              <a:r>
                <a:rPr lang="en-US" b="true" sz="2400">
                  <a:solidFill>
                    <a:srgbClr val="2C5282"/>
                  </a:solidFill>
                  <a:latin typeface="Codec Pro Ultra-Bold"/>
                  <a:ea typeface="Codec Pro Ultra-Bold"/>
                  <a:cs typeface="Codec Pro Ultra-Bold"/>
                  <a:sym typeface="Codec Pro Ultra-Bold"/>
                </a:rPr>
                <a:t>Data Techniques</a:t>
              </a:r>
            </a:p>
          </p:txBody>
        </p:sp>
      </p:grpSp>
      <p:grpSp>
        <p:nvGrpSpPr>
          <p:cNvPr name="Group 14" id="14"/>
          <p:cNvGrpSpPr/>
          <p:nvPr/>
        </p:nvGrpSpPr>
        <p:grpSpPr>
          <a:xfrm rot="0">
            <a:off x="6834188" y="6934200"/>
            <a:ext cx="4479254" cy="1586865"/>
            <a:chOff x="0" y="0"/>
            <a:chExt cx="5972338" cy="2115820"/>
          </a:xfrm>
        </p:grpSpPr>
        <p:sp>
          <p:nvSpPr>
            <p:cNvPr name="TextBox 15" id="15"/>
            <p:cNvSpPr txBox="true"/>
            <p:nvPr/>
          </p:nvSpPr>
          <p:spPr>
            <a:xfrm rot="0">
              <a:off x="0" y="527685"/>
              <a:ext cx="5972338" cy="1588135"/>
            </a:xfrm>
            <a:prstGeom prst="rect">
              <a:avLst/>
            </a:prstGeom>
          </p:spPr>
          <p:txBody>
            <a:bodyPr anchor="t" rtlCol="false" tIns="0" lIns="0" bIns="0" rIns="0">
              <a:spAutoFit/>
            </a:bodyPr>
            <a:lstStyle/>
            <a:p>
              <a:pPr algn="ctr" marL="0" indent="0" lvl="0">
                <a:lnSpc>
                  <a:spcPts val="3120"/>
                </a:lnSpc>
              </a:pPr>
              <a:r>
                <a:rPr lang="en-US" sz="2400">
                  <a:solidFill>
                    <a:srgbClr val="4A5568"/>
                  </a:solidFill>
                  <a:latin typeface="Codec Pro"/>
                  <a:ea typeface="Codec Pro"/>
                  <a:cs typeface="Codec Pro"/>
                  <a:sym typeface="Codec Pro"/>
                </a:rPr>
                <a:t>Python</a:t>
              </a:r>
            </a:p>
            <a:p>
              <a:pPr algn="ctr" marL="0" indent="0" lvl="0">
                <a:lnSpc>
                  <a:spcPts val="3120"/>
                </a:lnSpc>
              </a:pPr>
              <a:r>
                <a:rPr lang="en-US" sz="2400">
                  <a:solidFill>
                    <a:srgbClr val="4A5568"/>
                  </a:solidFill>
                  <a:latin typeface="Codec Pro"/>
                  <a:ea typeface="Codec Pro"/>
                  <a:cs typeface="Codec Pro"/>
                  <a:sym typeface="Codec Pro"/>
                </a:rPr>
                <a:t>SQL</a:t>
              </a:r>
            </a:p>
            <a:p>
              <a:pPr algn="ctr" marL="0" indent="0" lvl="0">
                <a:lnSpc>
                  <a:spcPts val="3120"/>
                </a:lnSpc>
              </a:pPr>
              <a:r>
                <a:rPr lang="en-US" sz="2400">
                  <a:solidFill>
                    <a:srgbClr val="4A5568"/>
                  </a:solidFill>
                  <a:latin typeface="Codec Pro"/>
                  <a:ea typeface="Codec Pro"/>
                  <a:cs typeface="Codec Pro"/>
                  <a:sym typeface="Codec Pro"/>
                </a:rPr>
                <a:t>Data tools</a:t>
              </a:r>
            </a:p>
          </p:txBody>
        </p:sp>
        <p:sp>
          <p:nvSpPr>
            <p:cNvPr name="TextBox 16" id="16"/>
            <p:cNvSpPr txBox="true"/>
            <p:nvPr/>
          </p:nvSpPr>
          <p:spPr>
            <a:xfrm rot="0">
              <a:off x="0" y="-66675"/>
              <a:ext cx="5972338" cy="559435"/>
            </a:xfrm>
            <a:prstGeom prst="rect">
              <a:avLst/>
            </a:prstGeom>
          </p:spPr>
          <p:txBody>
            <a:bodyPr anchor="t" rtlCol="false" tIns="0" lIns="0" bIns="0" rIns="0">
              <a:spAutoFit/>
            </a:bodyPr>
            <a:lstStyle/>
            <a:p>
              <a:pPr algn="ctr" marL="0" indent="0" lvl="0">
                <a:lnSpc>
                  <a:spcPts val="3120"/>
                </a:lnSpc>
              </a:pPr>
              <a:r>
                <a:rPr lang="en-US" b="true" sz="2400">
                  <a:solidFill>
                    <a:srgbClr val="2C5282"/>
                  </a:solidFill>
                  <a:latin typeface="Codec Pro Ultra-Bold"/>
                  <a:ea typeface="Codec Pro Ultra-Bold"/>
                  <a:cs typeface="Codec Pro Ultra-Bold"/>
                  <a:sym typeface="Codec Pro Ultra-Bold"/>
                </a:rPr>
                <a:t>Programming</a:t>
              </a:r>
            </a:p>
          </p:txBody>
        </p:sp>
      </p:grpSp>
      <p:grpSp>
        <p:nvGrpSpPr>
          <p:cNvPr name="Group 17" id="17"/>
          <p:cNvGrpSpPr/>
          <p:nvPr/>
        </p:nvGrpSpPr>
        <p:grpSpPr>
          <a:xfrm rot="0">
            <a:off x="11868150" y="6934200"/>
            <a:ext cx="4620413" cy="1586865"/>
            <a:chOff x="0" y="0"/>
            <a:chExt cx="6160551" cy="2115820"/>
          </a:xfrm>
        </p:grpSpPr>
        <p:sp>
          <p:nvSpPr>
            <p:cNvPr name="TextBox 18" id="18"/>
            <p:cNvSpPr txBox="true"/>
            <p:nvPr/>
          </p:nvSpPr>
          <p:spPr>
            <a:xfrm rot="0">
              <a:off x="0" y="527685"/>
              <a:ext cx="6160551" cy="1588135"/>
            </a:xfrm>
            <a:prstGeom prst="rect">
              <a:avLst/>
            </a:prstGeom>
          </p:spPr>
          <p:txBody>
            <a:bodyPr anchor="t" rtlCol="false" tIns="0" lIns="0" bIns="0" rIns="0">
              <a:spAutoFit/>
            </a:bodyPr>
            <a:lstStyle/>
            <a:p>
              <a:pPr algn="ctr" marL="0" indent="0" lvl="0">
                <a:lnSpc>
                  <a:spcPts val="3120"/>
                </a:lnSpc>
              </a:pPr>
              <a:r>
                <a:rPr lang="en-US" sz="2400">
                  <a:solidFill>
                    <a:srgbClr val="4A5568"/>
                  </a:solidFill>
                  <a:latin typeface="Codec Pro"/>
                  <a:ea typeface="Codec Pro"/>
                  <a:cs typeface="Codec Pro"/>
                  <a:sym typeface="Codec Pro"/>
                </a:rPr>
                <a:t>Statistics basics</a:t>
              </a:r>
            </a:p>
            <a:p>
              <a:pPr algn="ctr" marL="0" indent="0" lvl="0">
                <a:lnSpc>
                  <a:spcPts val="3120"/>
                </a:lnSpc>
              </a:pPr>
              <a:r>
                <a:rPr lang="en-US" sz="2400">
                  <a:solidFill>
                    <a:srgbClr val="4A5568"/>
                  </a:solidFill>
                  <a:latin typeface="Codec Pro"/>
                  <a:ea typeface="Codec Pro"/>
                  <a:cs typeface="Codec Pro"/>
                  <a:sym typeface="Codec Pro"/>
                </a:rPr>
                <a:t>Data modeling</a:t>
              </a:r>
            </a:p>
            <a:p>
              <a:pPr algn="ctr" marL="0" indent="0" lvl="0">
                <a:lnSpc>
                  <a:spcPts val="3120"/>
                </a:lnSpc>
              </a:pPr>
              <a:r>
                <a:rPr lang="en-US" sz="2400">
                  <a:solidFill>
                    <a:srgbClr val="4A5568"/>
                  </a:solidFill>
                  <a:latin typeface="Codec Pro"/>
                  <a:ea typeface="Codec Pro"/>
                  <a:cs typeface="Codec Pro"/>
                  <a:sym typeface="Codec Pro"/>
                </a:rPr>
                <a:t>Decision support</a:t>
              </a:r>
            </a:p>
          </p:txBody>
        </p:sp>
        <p:sp>
          <p:nvSpPr>
            <p:cNvPr name="TextBox 19" id="19"/>
            <p:cNvSpPr txBox="true"/>
            <p:nvPr/>
          </p:nvSpPr>
          <p:spPr>
            <a:xfrm rot="0">
              <a:off x="0" y="-66675"/>
              <a:ext cx="6160551" cy="559435"/>
            </a:xfrm>
            <a:prstGeom prst="rect">
              <a:avLst/>
            </a:prstGeom>
          </p:spPr>
          <p:txBody>
            <a:bodyPr anchor="t" rtlCol="false" tIns="0" lIns="0" bIns="0" rIns="0">
              <a:spAutoFit/>
            </a:bodyPr>
            <a:lstStyle/>
            <a:p>
              <a:pPr algn="ctr" marL="0" indent="0" lvl="0">
                <a:lnSpc>
                  <a:spcPts val="3120"/>
                </a:lnSpc>
              </a:pPr>
              <a:r>
                <a:rPr lang="en-US" b="true" sz="2400">
                  <a:solidFill>
                    <a:srgbClr val="2C5282"/>
                  </a:solidFill>
                  <a:latin typeface="Codec Pro Ultra-Bold"/>
                  <a:ea typeface="Codec Pro Ultra-Bold"/>
                  <a:cs typeface="Codec Pro Ultra-Bold"/>
                  <a:sym typeface="Codec Pro Ultra-Bold"/>
                </a:rPr>
                <a:t>Statistical Knowledge</a:t>
              </a:r>
            </a:p>
          </p:txBody>
        </p:sp>
      </p:grpSp>
      <p:sp>
        <p:nvSpPr>
          <p:cNvPr name="TextBox 20" id="20"/>
          <p:cNvSpPr txBox="true"/>
          <p:nvPr/>
        </p:nvSpPr>
        <p:spPr>
          <a:xfrm rot="0">
            <a:off x="2105025" y="1504950"/>
            <a:ext cx="14077950" cy="876300"/>
          </a:xfrm>
          <a:prstGeom prst="rect">
            <a:avLst/>
          </a:prstGeom>
        </p:spPr>
        <p:txBody>
          <a:bodyPr anchor="t" rtlCol="false" tIns="0" lIns="0" bIns="0" rIns="0">
            <a:spAutoFit/>
          </a:bodyPr>
          <a:lstStyle/>
          <a:p>
            <a:pPr algn="ctr" marL="0" indent="0" lvl="0">
              <a:lnSpc>
                <a:spcPts val="6480"/>
              </a:lnSpc>
            </a:pPr>
            <a:r>
              <a:rPr lang="en-US" b="true" sz="5400" spc="-135">
                <a:solidFill>
                  <a:srgbClr val="0B3D91"/>
                </a:solidFill>
                <a:latin typeface="Gatwick Ultra-Bold"/>
                <a:ea typeface="Gatwick Ultra-Bold"/>
                <a:cs typeface="Gatwick Ultra-Bold"/>
                <a:sym typeface="Gatwick Ultra-Bold"/>
              </a:rPr>
              <a:t>Essential Skills for Data Roles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9E2EC"/>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0B3D91"/>
            </a:solidFill>
          </p:spPr>
        </p:sp>
      </p:grpSp>
      <p:sp>
        <p:nvSpPr>
          <p:cNvPr name="Freeform 5" id="5"/>
          <p:cNvSpPr/>
          <p:nvPr/>
        </p:nvSpPr>
        <p:spPr>
          <a:xfrm flipH="false" flipV="false" rot="0">
            <a:off x="2105025" y="2158401"/>
            <a:ext cx="5753100" cy="5970198"/>
          </a:xfrm>
          <a:custGeom>
            <a:avLst/>
            <a:gdLst/>
            <a:ahLst/>
            <a:cxnLst/>
            <a:rect r="r" b="b" t="t" l="l"/>
            <a:pathLst>
              <a:path h="5970198" w="5753100">
                <a:moveTo>
                  <a:pt x="0" y="0"/>
                </a:moveTo>
                <a:lnTo>
                  <a:pt x="5753100" y="0"/>
                </a:lnTo>
                <a:lnTo>
                  <a:pt x="5753100" y="5970198"/>
                </a:lnTo>
                <a:lnTo>
                  <a:pt x="0" y="59701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6" id="6"/>
          <p:cNvSpPr/>
          <p:nvPr/>
        </p:nvSpPr>
        <p:spPr>
          <a:xfrm flipH="false" flipV="false" rot="0">
            <a:off x="12477206" y="4297893"/>
            <a:ext cx="524964" cy="327387"/>
          </a:xfrm>
          <a:custGeom>
            <a:avLst/>
            <a:gdLst/>
            <a:ahLst/>
            <a:cxnLst/>
            <a:rect r="r" b="b" t="t" l="l"/>
            <a:pathLst>
              <a:path h="327387" w="524964">
                <a:moveTo>
                  <a:pt x="0" y="0"/>
                </a:moveTo>
                <a:lnTo>
                  <a:pt x="524963" y="0"/>
                </a:lnTo>
                <a:lnTo>
                  <a:pt x="524963" y="327386"/>
                </a:lnTo>
                <a:lnTo>
                  <a:pt x="0" y="3273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9296400" y="1222227"/>
            <a:ext cx="6886575" cy="7192942"/>
            <a:chOff x="0" y="0"/>
            <a:chExt cx="9182100" cy="9590589"/>
          </a:xfrm>
        </p:grpSpPr>
        <p:sp>
          <p:nvSpPr>
            <p:cNvPr name="TextBox 8" id="8"/>
            <p:cNvSpPr txBox="true"/>
            <p:nvPr/>
          </p:nvSpPr>
          <p:spPr>
            <a:xfrm rot="0">
              <a:off x="0" y="-57150"/>
              <a:ext cx="9182100" cy="3333750"/>
            </a:xfrm>
            <a:prstGeom prst="rect">
              <a:avLst/>
            </a:prstGeom>
          </p:spPr>
          <p:txBody>
            <a:bodyPr anchor="t" rtlCol="false" tIns="0" lIns="0" bIns="0" rIns="0">
              <a:spAutoFit/>
            </a:bodyPr>
            <a:lstStyle/>
            <a:p>
              <a:pPr algn="ctr" marL="0" indent="0" lvl="0">
                <a:lnSpc>
                  <a:spcPts val="6480"/>
                </a:lnSpc>
              </a:pPr>
              <a:r>
                <a:rPr lang="en-US" b="true" sz="5400" spc="-135">
                  <a:solidFill>
                    <a:srgbClr val="2C5282"/>
                  </a:solidFill>
                  <a:latin typeface="Gatwick Ultra-Bold"/>
                  <a:ea typeface="Gatwick Ultra-Bold"/>
                  <a:cs typeface="Gatwick Ultra-Bold"/>
                  <a:sym typeface="Gatwick Ultra-Bold"/>
                </a:rPr>
                <a:t>Major Healthcare Employers</a:t>
              </a:r>
            </a:p>
          </p:txBody>
        </p:sp>
        <p:sp>
          <p:nvSpPr>
            <p:cNvPr name="TextBox 9" id="9"/>
            <p:cNvSpPr txBox="true"/>
            <p:nvPr/>
          </p:nvSpPr>
          <p:spPr>
            <a:xfrm rot="0">
              <a:off x="0" y="3625850"/>
              <a:ext cx="9182100" cy="5964739"/>
            </a:xfrm>
            <a:prstGeom prst="rect">
              <a:avLst/>
            </a:prstGeom>
          </p:spPr>
          <p:txBody>
            <a:bodyPr anchor="t" rtlCol="false" tIns="0" lIns="0" bIns="0" rIns="0">
              <a:spAutoFit/>
            </a:bodyPr>
            <a:lstStyle/>
            <a:p>
              <a:pPr algn="ctr" marL="0" indent="0" lvl="0">
                <a:lnSpc>
                  <a:spcPts val="2764"/>
                </a:lnSpc>
              </a:pPr>
              <a:r>
                <a:rPr lang="en-US" sz="2126">
                  <a:solidFill>
                    <a:srgbClr val="4A5568"/>
                  </a:solidFill>
                  <a:latin typeface="Codec Pro"/>
                  <a:ea typeface="Codec Pro"/>
                  <a:cs typeface="Codec Pro"/>
                  <a:sym typeface="Codec Pro"/>
                </a:rPr>
                <a:t>Mass General Brigham</a:t>
              </a:r>
            </a:p>
            <a:p>
              <a:pPr algn="ctr" marL="0" indent="0" lvl="0">
                <a:lnSpc>
                  <a:spcPts val="2764"/>
                </a:lnSpc>
              </a:pPr>
            </a:p>
            <a:p>
              <a:pPr algn="ctr" marL="0" indent="0" lvl="0">
                <a:lnSpc>
                  <a:spcPts val="2764"/>
                </a:lnSpc>
              </a:pPr>
              <a:r>
                <a:rPr lang="en-US" sz="2126">
                  <a:solidFill>
                    <a:srgbClr val="4A5568"/>
                  </a:solidFill>
                  <a:latin typeface="Codec Pro"/>
                  <a:ea typeface="Codec Pro"/>
                  <a:cs typeface="Codec Pro"/>
                  <a:sym typeface="Codec Pro"/>
                </a:rPr>
                <a:t>Bachelor’s degree</a:t>
              </a:r>
            </a:p>
            <a:p>
              <a:pPr algn="ctr" marL="0" indent="0" lvl="0">
                <a:lnSpc>
                  <a:spcPts val="2764"/>
                </a:lnSpc>
              </a:pPr>
              <a:r>
                <a:rPr lang="en-US" sz="2126">
                  <a:solidFill>
                    <a:srgbClr val="4A5568"/>
                  </a:solidFill>
                  <a:latin typeface="Codec Pro"/>
                  <a:ea typeface="Codec Pro"/>
                  <a:cs typeface="Codec Pro"/>
                  <a:sym typeface="Codec Pro"/>
                </a:rPr>
                <a:t>SQL, Excel</a:t>
              </a:r>
            </a:p>
            <a:p>
              <a:pPr algn="ctr" marL="0" indent="0" lvl="0">
                <a:lnSpc>
                  <a:spcPts val="2764"/>
                </a:lnSpc>
              </a:pPr>
              <a:r>
                <a:rPr lang="en-US" sz="2126">
                  <a:solidFill>
                    <a:srgbClr val="4A5568"/>
                  </a:solidFill>
                  <a:latin typeface="Codec Pro"/>
                  <a:ea typeface="Codec Pro"/>
                  <a:cs typeface="Codec Pro"/>
                  <a:sym typeface="Codec Pro"/>
                </a:rPr>
                <a:t>Healthcare data</a:t>
              </a:r>
            </a:p>
            <a:p>
              <a:pPr algn="ctr" marL="0" indent="0" lvl="0">
                <a:lnSpc>
                  <a:spcPts val="2764"/>
                </a:lnSpc>
              </a:pPr>
              <a:r>
                <a:rPr lang="en-US" sz="2126">
                  <a:solidFill>
                    <a:srgbClr val="4A5568"/>
                  </a:solidFill>
                  <a:latin typeface="Codec Pro"/>
                  <a:ea typeface="Codec Pro"/>
                  <a:cs typeface="Codec Pro"/>
                  <a:sym typeface="Codec Pro"/>
                </a:rPr>
                <a:t>Analytical skills</a:t>
              </a:r>
            </a:p>
            <a:p>
              <a:pPr algn="ctr" marL="0" indent="0" lvl="0">
                <a:lnSpc>
                  <a:spcPts val="2764"/>
                </a:lnSpc>
              </a:pPr>
            </a:p>
            <a:p>
              <a:pPr algn="ctr" marL="0" indent="0" lvl="0">
                <a:lnSpc>
                  <a:spcPts val="2764"/>
                </a:lnSpc>
              </a:pPr>
              <a:r>
                <a:rPr lang="en-US" sz="2126">
                  <a:solidFill>
                    <a:srgbClr val="4A5568"/>
                  </a:solidFill>
                  <a:latin typeface="Codec Pro"/>
                  <a:ea typeface="Codec Pro"/>
                  <a:cs typeface="Codec Pro"/>
                  <a:sym typeface="Codec Pro"/>
                </a:rPr>
                <a:t>Boston Children’s Hospital</a:t>
              </a:r>
            </a:p>
            <a:p>
              <a:pPr algn="ctr" marL="0" indent="0" lvl="0">
                <a:lnSpc>
                  <a:spcPts val="2764"/>
                </a:lnSpc>
              </a:pPr>
            </a:p>
            <a:p>
              <a:pPr algn="ctr" marL="0" indent="0" lvl="0">
                <a:lnSpc>
                  <a:spcPts val="2764"/>
                </a:lnSpc>
              </a:pPr>
              <a:r>
                <a:rPr lang="en-US" sz="2126">
                  <a:solidFill>
                    <a:srgbClr val="4A5568"/>
                  </a:solidFill>
                  <a:latin typeface="Codec Pro"/>
                  <a:ea typeface="Codec Pro"/>
                  <a:cs typeface="Codec Pro"/>
                  <a:sym typeface="Codec Pro"/>
                </a:rPr>
                <a:t>Data-related degree</a:t>
              </a:r>
            </a:p>
            <a:p>
              <a:pPr algn="ctr" marL="0" indent="0" lvl="0">
                <a:lnSpc>
                  <a:spcPts val="2764"/>
                </a:lnSpc>
              </a:pPr>
              <a:r>
                <a:rPr lang="en-US" sz="2126">
                  <a:solidFill>
                    <a:srgbClr val="4A5568"/>
                  </a:solidFill>
                  <a:latin typeface="Codec Pro"/>
                  <a:ea typeface="Codec Pro"/>
                  <a:cs typeface="Codec Pro"/>
                  <a:sym typeface="Codec Pro"/>
                </a:rPr>
                <a:t>Python, Tableau</a:t>
              </a:r>
            </a:p>
            <a:p>
              <a:pPr algn="ctr" marL="0" indent="0" lvl="0">
                <a:lnSpc>
                  <a:spcPts val="2764"/>
                </a:lnSpc>
              </a:pPr>
              <a:r>
                <a:rPr lang="en-US" sz="2126">
                  <a:solidFill>
                    <a:srgbClr val="4A5568"/>
                  </a:solidFill>
                  <a:latin typeface="Codec Pro"/>
                  <a:ea typeface="Codec Pro"/>
                  <a:cs typeface="Codec Pro"/>
                  <a:sym typeface="Codec Pro"/>
                </a:rPr>
                <a:t>Attention to detail</a:t>
              </a:r>
            </a:p>
            <a:p>
              <a:pPr algn="ctr" marL="0" indent="0" lvl="0">
                <a:lnSpc>
                  <a:spcPts val="2764"/>
                </a:lnSpc>
              </a:pPr>
              <a:r>
                <a:rPr lang="en-US" sz="2126">
                  <a:solidFill>
                    <a:srgbClr val="4A5568"/>
                  </a:solidFill>
                  <a:latin typeface="Codec Pro"/>
                  <a:ea typeface="Codec Pro"/>
                  <a:cs typeface="Codec Pro"/>
                  <a:sym typeface="Codec Pro"/>
                </a:rPr>
                <a:t>Communication</a:t>
              </a:r>
            </a:p>
          </p:txBody>
        </p:sp>
      </p:grpSp>
      <p:sp>
        <p:nvSpPr>
          <p:cNvPr name="Freeform 10" id="10"/>
          <p:cNvSpPr/>
          <p:nvPr/>
        </p:nvSpPr>
        <p:spPr>
          <a:xfrm flipH="false" flipV="false" rot="0">
            <a:off x="12477206" y="6717456"/>
            <a:ext cx="524964" cy="327387"/>
          </a:xfrm>
          <a:custGeom>
            <a:avLst/>
            <a:gdLst/>
            <a:ahLst/>
            <a:cxnLst/>
            <a:rect r="r" b="b" t="t" l="l"/>
            <a:pathLst>
              <a:path h="327387" w="524964">
                <a:moveTo>
                  <a:pt x="0" y="0"/>
                </a:moveTo>
                <a:lnTo>
                  <a:pt x="524963" y="0"/>
                </a:lnTo>
                <a:lnTo>
                  <a:pt x="524963" y="327386"/>
                </a:lnTo>
                <a:lnTo>
                  <a:pt x="0" y="3273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718096"/>
            </a:solidFill>
          </p:spPr>
        </p:sp>
      </p:grpSp>
      <p:sp>
        <p:nvSpPr>
          <p:cNvPr name="Freeform 5" id="5"/>
          <p:cNvSpPr/>
          <p:nvPr/>
        </p:nvSpPr>
        <p:spPr>
          <a:xfrm flipH="false" flipV="false" rot="0">
            <a:off x="2105025" y="2158401"/>
            <a:ext cx="5753100" cy="5970198"/>
          </a:xfrm>
          <a:custGeom>
            <a:avLst/>
            <a:gdLst/>
            <a:ahLst/>
            <a:cxnLst/>
            <a:rect r="r" b="b" t="t" l="l"/>
            <a:pathLst>
              <a:path h="5970198" w="5753100">
                <a:moveTo>
                  <a:pt x="0" y="0"/>
                </a:moveTo>
                <a:lnTo>
                  <a:pt x="5753100" y="0"/>
                </a:lnTo>
                <a:lnTo>
                  <a:pt x="5753100" y="5970198"/>
                </a:lnTo>
                <a:lnTo>
                  <a:pt x="0" y="59701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6" id="6"/>
          <p:cNvGrpSpPr/>
          <p:nvPr/>
        </p:nvGrpSpPr>
        <p:grpSpPr>
          <a:xfrm rot="0">
            <a:off x="9296400" y="2476500"/>
            <a:ext cx="6886575" cy="4684395"/>
            <a:chOff x="0" y="0"/>
            <a:chExt cx="9182100" cy="6245860"/>
          </a:xfrm>
        </p:grpSpPr>
        <p:sp>
          <p:nvSpPr>
            <p:cNvPr name="TextBox 7" id="7"/>
            <p:cNvSpPr txBox="true"/>
            <p:nvPr/>
          </p:nvSpPr>
          <p:spPr>
            <a:xfrm rot="0">
              <a:off x="0" y="-57150"/>
              <a:ext cx="9182100" cy="3333750"/>
            </a:xfrm>
            <a:prstGeom prst="rect">
              <a:avLst/>
            </a:prstGeom>
          </p:spPr>
          <p:txBody>
            <a:bodyPr anchor="t" rtlCol="false" tIns="0" lIns="0" bIns="0" rIns="0">
              <a:spAutoFit/>
            </a:bodyPr>
            <a:lstStyle/>
            <a:p>
              <a:pPr algn="ctr" marL="0" indent="0" lvl="0">
                <a:lnSpc>
                  <a:spcPts val="6480"/>
                </a:lnSpc>
              </a:pPr>
              <a:r>
                <a:rPr lang="en-US" b="true" sz="5400" spc="-135">
                  <a:solidFill>
                    <a:srgbClr val="2C5282"/>
                  </a:solidFill>
                  <a:latin typeface="Gatwick Ultra-Bold"/>
                  <a:ea typeface="Gatwick Ultra-Bold"/>
                  <a:cs typeface="Gatwick Ultra-Bold"/>
                  <a:sym typeface="Gatwick Ultra-Bold"/>
                </a:rPr>
                <a:t>Focus on Healthcare Employers</a:t>
              </a:r>
            </a:p>
          </p:txBody>
        </p:sp>
        <p:sp>
          <p:nvSpPr>
            <p:cNvPr name="TextBox 8" id="8"/>
            <p:cNvSpPr txBox="true"/>
            <p:nvPr/>
          </p:nvSpPr>
          <p:spPr>
            <a:xfrm rot="0">
              <a:off x="0" y="3616325"/>
              <a:ext cx="9182100" cy="2629535"/>
            </a:xfrm>
            <a:prstGeom prst="rect">
              <a:avLst/>
            </a:prstGeom>
          </p:spPr>
          <p:txBody>
            <a:bodyPr anchor="t" rtlCol="false" tIns="0" lIns="0" bIns="0" rIns="0">
              <a:spAutoFit/>
            </a:bodyPr>
            <a:lstStyle/>
            <a:p>
              <a:pPr algn="ctr">
                <a:lnSpc>
                  <a:spcPts val="3120"/>
                </a:lnSpc>
              </a:pPr>
              <a:r>
                <a:rPr lang="en-US" sz="2400">
                  <a:solidFill>
                    <a:srgbClr val="4A5568"/>
                  </a:solidFill>
                  <a:latin typeface="Codec Pro"/>
                  <a:ea typeface="Codec Pro"/>
                  <a:cs typeface="Codec Pro"/>
                  <a:sym typeface="Codec Pro"/>
                </a:rPr>
                <a:t>Large healthcare systems</a:t>
              </a:r>
            </a:p>
            <a:p>
              <a:pPr algn="ctr">
                <a:lnSpc>
                  <a:spcPts val="3120"/>
                </a:lnSpc>
              </a:pPr>
              <a:r>
                <a:rPr lang="en-US" sz="2400">
                  <a:solidFill>
                    <a:srgbClr val="4A5568"/>
                  </a:solidFill>
                  <a:latin typeface="Codec Pro"/>
                  <a:ea typeface="Codec Pro"/>
                  <a:cs typeface="Codec Pro"/>
                  <a:sym typeface="Codec Pro"/>
                </a:rPr>
                <a:t>Millions of patients</a:t>
              </a:r>
            </a:p>
            <a:p>
              <a:pPr algn="ctr">
                <a:lnSpc>
                  <a:spcPts val="3120"/>
                </a:lnSpc>
              </a:pPr>
              <a:r>
                <a:rPr lang="en-US" sz="2400">
                  <a:solidFill>
                    <a:srgbClr val="4A5568"/>
                  </a:solidFill>
                  <a:latin typeface="Codec Pro"/>
                  <a:ea typeface="Codec Pro"/>
                  <a:cs typeface="Codec Pro"/>
                  <a:sym typeface="Codec Pro"/>
                </a:rPr>
                <a:t>Research &amp; education</a:t>
              </a:r>
            </a:p>
            <a:p>
              <a:pPr algn="ctr">
                <a:lnSpc>
                  <a:spcPts val="3120"/>
                </a:lnSpc>
              </a:pPr>
              <a:r>
                <a:rPr lang="en-US" sz="2400">
                  <a:solidFill>
                    <a:srgbClr val="4A5568"/>
                  </a:solidFill>
                  <a:latin typeface="Codec Pro"/>
                  <a:ea typeface="Codec Pro"/>
                  <a:cs typeface="Codec Pro"/>
                  <a:sym typeface="Codec Pro"/>
                </a:rPr>
                <a:t>Patient care focus</a:t>
              </a:r>
            </a:p>
            <a:p>
              <a:pPr algn="just">
                <a:lnSpc>
                  <a:spcPts val="3120"/>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9E2EC"/>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0B3D91"/>
            </a:solidFill>
          </p:spPr>
        </p:sp>
      </p:grpSp>
      <p:sp>
        <p:nvSpPr>
          <p:cNvPr name="Freeform 5" id="5"/>
          <p:cNvSpPr/>
          <p:nvPr/>
        </p:nvSpPr>
        <p:spPr>
          <a:xfrm flipH="false" flipV="false" rot="0">
            <a:off x="2105025" y="2158401"/>
            <a:ext cx="5753100" cy="5970198"/>
          </a:xfrm>
          <a:custGeom>
            <a:avLst/>
            <a:gdLst/>
            <a:ahLst/>
            <a:cxnLst/>
            <a:rect r="r" b="b" t="t" l="l"/>
            <a:pathLst>
              <a:path h="5970198" w="5753100">
                <a:moveTo>
                  <a:pt x="0" y="0"/>
                </a:moveTo>
                <a:lnTo>
                  <a:pt x="5753100" y="0"/>
                </a:lnTo>
                <a:lnTo>
                  <a:pt x="5753100" y="5970198"/>
                </a:lnTo>
                <a:lnTo>
                  <a:pt x="0" y="59701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6" id="6"/>
          <p:cNvGrpSpPr/>
          <p:nvPr/>
        </p:nvGrpSpPr>
        <p:grpSpPr>
          <a:xfrm rot="0">
            <a:off x="9296400" y="3081338"/>
            <a:ext cx="6886575" cy="3474720"/>
            <a:chOff x="0" y="0"/>
            <a:chExt cx="9182100" cy="4632960"/>
          </a:xfrm>
        </p:grpSpPr>
        <p:sp>
          <p:nvSpPr>
            <p:cNvPr name="TextBox 7" id="7"/>
            <p:cNvSpPr txBox="true"/>
            <p:nvPr/>
          </p:nvSpPr>
          <p:spPr>
            <a:xfrm rot="0">
              <a:off x="0" y="-57150"/>
              <a:ext cx="9182100" cy="2241550"/>
            </a:xfrm>
            <a:prstGeom prst="rect">
              <a:avLst/>
            </a:prstGeom>
          </p:spPr>
          <p:txBody>
            <a:bodyPr anchor="t" rtlCol="false" tIns="0" lIns="0" bIns="0" rIns="0">
              <a:spAutoFit/>
            </a:bodyPr>
            <a:lstStyle/>
            <a:p>
              <a:pPr algn="ctr" marL="0" indent="0" lvl="0">
                <a:lnSpc>
                  <a:spcPts val="6480"/>
                </a:lnSpc>
              </a:pPr>
              <a:r>
                <a:rPr lang="en-US" b="true" sz="5400" spc="-135">
                  <a:solidFill>
                    <a:srgbClr val="2C5282"/>
                  </a:solidFill>
                  <a:latin typeface="Gatwick Ultra-Bold"/>
                  <a:ea typeface="Gatwick Ultra-Bold"/>
                  <a:cs typeface="Gatwick Ultra-Bold"/>
                  <a:sym typeface="Gatwick Ultra-Bold"/>
                </a:rPr>
                <a:t>LinkedIn Insights</a:t>
              </a:r>
            </a:p>
          </p:txBody>
        </p:sp>
        <p:sp>
          <p:nvSpPr>
            <p:cNvPr name="TextBox 8" id="8"/>
            <p:cNvSpPr txBox="true"/>
            <p:nvPr/>
          </p:nvSpPr>
          <p:spPr>
            <a:xfrm rot="0">
              <a:off x="0" y="2524125"/>
              <a:ext cx="9182100" cy="2108835"/>
            </a:xfrm>
            <a:prstGeom prst="rect">
              <a:avLst/>
            </a:prstGeom>
          </p:spPr>
          <p:txBody>
            <a:bodyPr anchor="t" rtlCol="false" tIns="0" lIns="0" bIns="0" rIns="0">
              <a:spAutoFit/>
            </a:bodyPr>
            <a:lstStyle/>
            <a:p>
              <a:pPr algn="ctr" marL="0" indent="0" lvl="0">
                <a:lnSpc>
                  <a:spcPts val="3120"/>
                </a:lnSpc>
              </a:pPr>
              <a:r>
                <a:rPr lang="en-US" sz="2400">
                  <a:solidFill>
                    <a:srgbClr val="4A5568"/>
                  </a:solidFill>
                  <a:latin typeface="Codec Pro"/>
                  <a:ea typeface="Codec Pro"/>
                  <a:cs typeface="Codec Pro"/>
                  <a:sym typeface="Codec Pro"/>
                </a:rPr>
                <a:t>10,000+ employees</a:t>
              </a:r>
            </a:p>
            <a:p>
              <a:pPr algn="ctr" marL="0" indent="0" lvl="0">
                <a:lnSpc>
                  <a:spcPts val="3120"/>
                </a:lnSpc>
              </a:pPr>
              <a:r>
                <a:rPr lang="en-US" sz="2400">
                  <a:solidFill>
                    <a:srgbClr val="4A5568"/>
                  </a:solidFill>
                  <a:latin typeface="Codec Pro"/>
                  <a:ea typeface="Codec Pro"/>
                  <a:cs typeface="Codec Pro"/>
                  <a:sym typeface="Codec Pro"/>
                </a:rPr>
                <a:t>166K+ followers</a:t>
              </a:r>
            </a:p>
            <a:p>
              <a:pPr algn="ctr" marL="0" indent="0" lvl="0">
                <a:lnSpc>
                  <a:spcPts val="3120"/>
                </a:lnSpc>
              </a:pPr>
              <a:r>
                <a:rPr lang="en-US" sz="2400">
                  <a:solidFill>
                    <a:srgbClr val="4A5568"/>
                  </a:solidFill>
                  <a:latin typeface="Codec Pro"/>
                  <a:ea typeface="Codec Pro"/>
                  <a:cs typeface="Codec Pro"/>
                  <a:sym typeface="Codec Pro"/>
                </a:rPr>
                <a:t>146 alumni</a:t>
              </a:r>
            </a:p>
            <a:p>
              <a:pPr algn="ctr" marL="0" indent="0" lvl="0">
                <a:lnSpc>
                  <a:spcPts val="3120"/>
                </a:lnSpc>
              </a:pPr>
              <a:r>
                <a:rPr lang="en-US" sz="2400">
                  <a:solidFill>
                    <a:srgbClr val="4A5568"/>
                  </a:solidFill>
                  <a:latin typeface="Codec Pro"/>
                  <a:ea typeface="Codec Pro"/>
                  <a:cs typeface="Codec Pro"/>
                  <a:sym typeface="Codec Pro"/>
                </a:rPr>
                <a:t>Large organization</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718096"/>
            </a:solidFill>
          </p:spPr>
        </p:sp>
      </p:grpSp>
      <p:sp>
        <p:nvSpPr>
          <p:cNvPr name="Freeform 5" id="5"/>
          <p:cNvSpPr/>
          <p:nvPr/>
        </p:nvSpPr>
        <p:spPr>
          <a:xfrm flipH="false" flipV="false" rot="0">
            <a:off x="2105025" y="2158401"/>
            <a:ext cx="5753100" cy="5970198"/>
          </a:xfrm>
          <a:custGeom>
            <a:avLst/>
            <a:gdLst/>
            <a:ahLst/>
            <a:cxnLst/>
            <a:rect r="r" b="b" t="t" l="l"/>
            <a:pathLst>
              <a:path h="5970198" w="5753100">
                <a:moveTo>
                  <a:pt x="0" y="0"/>
                </a:moveTo>
                <a:lnTo>
                  <a:pt x="5753100" y="0"/>
                </a:lnTo>
                <a:lnTo>
                  <a:pt x="5753100" y="5970198"/>
                </a:lnTo>
                <a:lnTo>
                  <a:pt x="0" y="59701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6" id="6"/>
          <p:cNvGrpSpPr/>
          <p:nvPr/>
        </p:nvGrpSpPr>
        <p:grpSpPr>
          <a:xfrm rot="0">
            <a:off x="9296400" y="2886075"/>
            <a:ext cx="6886575" cy="3865245"/>
            <a:chOff x="0" y="0"/>
            <a:chExt cx="9182100" cy="5153660"/>
          </a:xfrm>
        </p:grpSpPr>
        <p:sp>
          <p:nvSpPr>
            <p:cNvPr name="TextBox 7" id="7"/>
            <p:cNvSpPr txBox="true"/>
            <p:nvPr/>
          </p:nvSpPr>
          <p:spPr>
            <a:xfrm rot="0">
              <a:off x="0" y="-57150"/>
              <a:ext cx="9182100" cy="2241550"/>
            </a:xfrm>
            <a:prstGeom prst="rect">
              <a:avLst/>
            </a:prstGeom>
          </p:spPr>
          <p:txBody>
            <a:bodyPr anchor="t" rtlCol="false" tIns="0" lIns="0" bIns="0" rIns="0">
              <a:spAutoFit/>
            </a:bodyPr>
            <a:lstStyle/>
            <a:p>
              <a:pPr algn="ctr" marL="0" indent="0" lvl="0">
                <a:lnSpc>
                  <a:spcPts val="6480"/>
                </a:lnSpc>
              </a:pPr>
              <a:r>
                <a:rPr lang="en-US" b="true" sz="5400" spc="-135">
                  <a:solidFill>
                    <a:srgbClr val="2C5282"/>
                  </a:solidFill>
                  <a:latin typeface="Gatwick Ultra-Bold"/>
                  <a:ea typeface="Gatwick Ultra-Bold"/>
                  <a:cs typeface="Gatwick Ultra-Bold"/>
                  <a:sym typeface="Gatwick Ultra-Bold"/>
                </a:rPr>
                <a:t>Key Lessons from Interview</a:t>
              </a:r>
            </a:p>
          </p:txBody>
        </p:sp>
        <p:sp>
          <p:nvSpPr>
            <p:cNvPr name="TextBox 8" id="8"/>
            <p:cNvSpPr txBox="true"/>
            <p:nvPr/>
          </p:nvSpPr>
          <p:spPr>
            <a:xfrm rot="0">
              <a:off x="0" y="2524125"/>
              <a:ext cx="9182100" cy="2629535"/>
            </a:xfrm>
            <a:prstGeom prst="rect">
              <a:avLst/>
            </a:prstGeom>
          </p:spPr>
          <p:txBody>
            <a:bodyPr anchor="t" rtlCol="false" tIns="0" lIns="0" bIns="0" rIns="0">
              <a:spAutoFit/>
            </a:bodyPr>
            <a:lstStyle/>
            <a:p>
              <a:pPr algn="ctr" marL="0" indent="0" lvl="0">
                <a:lnSpc>
                  <a:spcPts val="3120"/>
                </a:lnSpc>
              </a:pPr>
              <a:r>
                <a:rPr lang="en-US" sz="2400">
                  <a:solidFill>
                    <a:srgbClr val="4A5568"/>
                  </a:solidFill>
                  <a:latin typeface="Codec Pro"/>
                  <a:ea typeface="Codec Pro"/>
                  <a:cs typeface="Codec Pro"/>
                  <a:sym typeface="Codec Pro"/>
                </a:rPr>
                <a:t>Start with real data</a:t>
              </a:r>
            </a:p>
            <a:p>
              <a:pPr algn="ctr" marL="0" indent="0" lvl="0">
                <a:lnSpc>
                  <a:spcPts val="3120"/>
                </a:lnSpc>
              </a:pPr>
              <a:r>
                <a:rPr lang="en-US" sz="2400">
                  <a:solidFill>
                    <a:srgbClr val="4A5568"/>
                  </a:solidFill>
                  <a:latin typeface="Codec Pro"/>
                  <a:ea typeface="Codec Pro"/>
                  <a:cs typeface="Codec Pro"/>
                  <a:sym typeface="Codec Pro"/>
                </a:rPr>
                <a:t>Same data → different insights</a:t>
              </a:r>
            </a:p>
            <a:p>
              <a:pPr algn="ctr" marL="0" indent="0" lvl="0">
                <a:lnSpc>
                  <a:spcPts val="3120"/>
                </a:lnSpc>
              </a:pPr>
              <a:r>
                <a:rPr lang="en-US" sz="2400">
                  <a:solidFill>
                    <a:srgbClr val="4A5568"/>
                  </a:solidFill>
                  <a:latin typeface="Codec Pro"/>
                  <a:ea typeface="Codec Pro"/>
                  <a:cs typeface="Codec Pro"/>
                  <a:sym typeface="Codec Pro"/>
                </a:rPr>
                <a:t>Focus on problem-solving</a:t>
              </a:r>
            </a:p>
            <a:p>
              <a:pPr algn="ctr" marL="0" indent="0" lvl="0">
                <a:lnSpc>
                  <a:spcPts val="3120"/>
                </a:lnSpc>
              </a:pPr>
              <a:r>
                <a:rPr lang="en-US" sz="2400">
                  <a:solidFill>
                    <a:srgbClr val="4A5568"/>
                  </a:solidFill>
                  <a:latin typeface="Codec Pro"/>
                  <a:ea typeface="Codec Pro"/>
                  <a:cs typeface="Codec Pro"/>
                  <a:sym typeface="Codec Pro"/>
                </a:rPr>
                <a:t>Need business understanding</a:t>
              </a:r>
            </a:p>
            <a:p>
              <a:pPr algn="ctr" marL="0" indent="0" lvl="0">
                <a:lnSpc>
                  <a:spcPts val="3120"/>
                </a:lnSpc>
              </a:pPr>
            </a:p>
          </p:txBody>
        </p:sp>
      </p:grpSp>
    </p:spTree>
  </p:cSld>
  <p:clrMapOvr>
    <a:masterClrMapping/>
  </p:clrMapOvr>
</p:sld>
</file>

<file path=ppt/slides/slide9.xml><?xml version="1.0" encoding="utf-8"?>
<p:sld xmlns:p="http://schemas.openxmlformats.org/presentationml/2006/main" xmlns:a="http://schemas.openxmlformats.org/drawingml/2006/main">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0B3D91"/>
            </a:solidFill>
          </p:spPr>
        </p:sp>
      </p:grpSp>
      <p:grpSp>
        <p:nvGrpSpPr>
          <p:cNvPr name="Group 5" id="5"/>
          <p:cNvGrpSpPr/>
          <p:nvPr/>
        </p:nvGrpSpPr>
        <p:grpSpPr>
          <a:xfrm rot="0">
            <a:off x="1800225" y="4171087"/>
            <a:ext cx="14687550" cy="1944827"/>
            <a:chOff x="0" y="0"/>
            <a:chExt cx="19583400" cy="2593103"/>
          </a:xfrm>
        </p:grpSpPr>
        <p:sp>
          <p:nvSpPr>
            <p:cNvPr name="TextBox 6" id="6"/>
            <p:cNvSpPr txBox="true"/>
            <p:nvPr/>
          </p:nvSpPr>
          <p:spPr>
            <a:xfrm rot="0">
              <a:off x="0" y="-57150"/>
              <a:ext cx="19583400" cy="1149350"/>
            </a:xfrm>
            <a:prstGeom prst="rect">
              <a:avLst/>
            </a:prstGeom>
          </p:spPr>
          <p:txBody>
            <a:bodyPr anchor="t" rtlCol="false" tIns="0" lIns="0" bIns="0" rIns="0">
              <a:spAutoFit/>
            </a:bodyPr>
            <a:lstStyle/>
            <a:p>
              <a:pPr algn="ctr" marL="0" indent="0" lvl="0">
                <a:lnSpc>
                  <a:spcPts val="6480"/>
                </a:lnSpc>
              </a:pPr>
              <a:r>
                <a:rPr lang="en-US" b="true" sz="5400" spc="-135">
                  <a:solidFill>
                    <a:srgbClr val="2C5282"/>
                  </a:solidFill>
                  <a:latin typeface="Gatwick Ultra-Bold"/>
                  <a:ea typeface="Gatwick Ultra-Bold"/>
                  <a:cs typeface="Gatwick Ultra-Bold"/>
                  <a:sym typeface="Gatwick Ultra-Bold"/>
                </a:rPr>
                <a:t>Thank You!</a:t>
              </a:r>
            </a:p>
          </p:txBody>
        </p:sp>
        <p:sp>
          <p:nvSpPr>
            <p:cNvPr name="TextBox 7" id="7"/>
            <p:cNvSpPr txBox="true"/>
            <p:nvPr/>
          </p:nvSpPr>
          <p:spPr>
            <a:xfrm rot="0">
              <a:off x="406400" y="1525668"/>
              <a:ext cx="18770600" cy="1067435"/>
            </a:xfrm>
            <a:prstGeom prst="rect">
              <a:avLst/>
            </a:prstGeom>
          </p:spPr>
          <p:txBody>
            <a:bodyPr anchor="t" rtlCol="false" tIns="0" lIns="0" bIns="0" rIns="0">
              <a:spAutoFit/>
            </a:bodyPr>
            <a:lstStyle/>
            <a:p>
              <a:pPr algn="ctr" marL="0" indent="0" lvl="0">
                <a:lnSpc>
                  <a:spcPts val="3120"/>
                </a:lnSpc>
                <a:spcBef>
                  <a:spcPct val="0"/>
                </a:spcBef>
              </a:pPr>
            </a:p>
            <a:p>
              <a:pPr algn="ctr" marL="0" indent="0" lvl="0">
                <a:lnSpc>
                  <a:spcPts val="3120"/>
                </a:lnSpc>
                <a:spcBef>
                  <a:spcPct val="0"/>
                </a:spcBef>
              </a:pPr>
              <a:r>
                <a:rPr lang="en-US" b="true" sz="2400" strike="noStrike" u="none">
                  <a:solidFill>
                    <a:srgbClr val="4A5568"/>
                  </a:solidFill>
                  <a:latin typeface="Codec Pro Ultra-Bold"/>
                  <a:ea typeface="Codec Pro Ultra-Bold"/>
                  <a:cs typeface="Codec Pro Ultra-Bold"/>
                  <a:sym typeface="Codec Pro Ultra-Bold"/>
                </a:rPr>
                <a:t>Thank you for listening</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Informational Interview Project</dc:description>
  <dc:identifier>DAHHdb1NM9o</dc:identifier>
  <dcterms:modified xsi:type="dcterms:W3CDTF">2011-08-01T06:04:30Z</dcterms:modified>
  <cp:revision>1</cp:revision>
  <dc:title>Presentation - Informational Interview Project</dc:title>
</cp:coreProperties>
</file>